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2.xml" ContentType="application/xml"/>
  <Override PartName="/customXml/itemProps1.xml" ContentType="application/vnd.openxmlformats-officedocument.customXmlProperties+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3.xml" ContentType="application/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15" descr=""/>
          <p:cNvPicPr/>
          <p:nvPr/>
        </p:nvPicPr>
        <p:blipFill>
          <a:blip r:embed="rId2"/>
          <a:stretch/>
        </p:blipFill>
        <p:spPr>
          <a:xfrm>
            <a:off x="0" y="0"/>
            <a:ext cx="12189960" cy="1439280"/>
          </a:xfrm>
          <a:prstGeom prst="rect">
            <a:avLst/>
          </a:prstGeom>
          <a:ln>
            <a:noFill/>
          </a:ln>
        </p:spPr>
      </p:pic>
      <p:pic>
        <p:nvPicPr>
          <p:cNvPr id="1" name="Google Shape;13;p16" descr=""/>
          <p:cNvPicPr/>
          <p:nvPr/>
        </p:nvPicPr>
        <p:blipFill>
          <a:blip r:embed="rId3"/>
          <a:stretch/>
        </p:blipFill>
        <p:spPr>
          <a:xfrm>
            <a:off x="0" y="4375080"/>
            <a:ext cx="12189960" cy="24807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6;p15" descr=""/>
          <p:cNvPicPr/>
          <p:nvPr/>
        </p:nvPicPr>
        <p:blipFill>
          <a:blip r:embed="rId2"/>
          <a:stretch/>
        </p:blipFill>
        <p:spPr>
          <a:xfrm>
            <a:off x="0" y="0"/>
            <a:ext cx="12189960" cy="1439280"/>
          </a:xfrm>
          <a:prstGeom prst="rect">
            <a:avLst/>
          </a:prstGeom>
          <a:ln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1371600" y="1790280"/>
            <a:ext cx="9446760" cy="182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>
              <a:lnSpc>
                <a:spcPct val="90000"/>
              </a:lnSpc>
            </a:pPr>
            <a:r>
              <a:rPr b="0" lang="en-US" sz="6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Green Pace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80" name="CustomShape 2"/>
          <p:cNvSpPr/>
          <p:nvPr/>
        </p:nvSpPr>
        <p:spPr>
          <a:xfrm>
            <a:off x="1371600" y="3632040"/>
            <a:ext cx="9446760" cy="1559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70000"/>
              </a:lnSpc>
            </a:pPr>
            <a:r>
              <a:rPr b="0" lang="en-US" sz="185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Security Policy Presentation</a:t>
            </a:r>
            <a:endParaRPr b="0" lang="en-US" sz="1850" spc="-1" strike="noStrike">
              <a:latin typeface="Arial"/>
            </a:endParaRPr>
          </a:p>
          <a:p>
            <a:pPr>
              <a:lnSpc>
                <a:spcPct val="70000"/>
              </a:lnSpc>
              <a:spcBef>
                <a:spcPts val="1001"/>
              </a:spcBef>
            </a:pPr>
            <a:r>
              <a:rPr b="0" lang="en-US" sz="185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Developer: </a:t>
            </a:r>
            <a:r>
              <a:rPr b="0" i="1" lang="en-US" sz="185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Mitchell Wolfrom Velez</a:t>
            </a:r>
            <a:endParaRPr b="0" lang="en-US" sz="1850" spc="-1" strike="noStrike">
              <a:latin typeface="Arial"/>
            </a:endParaRPr>
          </a:p>
          <a:p>
            <a:pPr>
              <a:lnSpc>
                <a:spcPct val="70000"/>
              </a:lnSpc>
              <a:spcBef>
                <a:spcPts val="1001"/>
              </a:spcBef>
            </a:pPr>
            <a:endParaRPr b="0" lang="en-US" sz="1850" spc="-1" strike="noStrike">
              <a:latin typeface="Arial"/>
            </a:endParaRPr>
          </a:p>
          <a:p>
            <a:pPr>
              <a:lnSpc>
                <a:spcPct val="7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Standardized C/C++ Secure Development &amp; DevSecOps Policy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81" name="Google Shape;146;p1" descr=""/>
          <p:cNvPicPr/>
          <p:nvPr/>
        </p:nvPicPr>
        <p:blipFill>
          <a:blip r:embed="rId1"/>
          <a:stretch/>
        </p:blipFill>
        <p:spPr>
          <a:xfrm>
            <a:off x="7440840" y="659880"/>
            <a:ext cx="2919240" cy="3784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OVERVIEW: DEFENSE IN DEPTH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4572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 marL="685800"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As Green Pace scales, implicit developer habits must be standardized to eliminate structural vulnerabilities and prepare compliance audits. </a:t>
            </a:r>
            <a:endParaRPr b="0" lang="en-US" sz="2200" spc="-1" strike="noStrike">
              <a:latin typeface="Arial"/>
            </a:endParaRPr>
          </a:p>
          <a:p>
            <a:pPr marL="685800"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 marL="685800"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We operate on the assumption that any single perimeter defense can be breached. Every unvalidated input, memory buffer, and API endpoint expands our attack surface. </a:t>
            </a:r>
            <a:endParaRPr b="0" lang="en-US" sz="2200" spc="-1" strike="noStrike">
              <a:latin typeface="Arial"/>
            </a:endParaRPr>
          </a:p>
          <a:p>
            <a:pPr marL="685800"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 marL="685800"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This policy embeds overlapping security controls directly into our C++ codebase, system architecture, and automated CI/CD pipelines.  </a:t>
            </a:r>
            <a:endParaRPr b="0" lang="en-US" sz="2200" spc="-1" strike="noStrike">
              <a:latin typeface="Arial"/>
            </a:endParaRPr>
          </a:p>
          <a:p>
            <a:pPr marL="685800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latin typeface="Arial"/>
            </a:endParaRPr>
          </a:p>
        </p:txBody>
      </p:sp>
      <p:pic>
        <p:nvPicPr>
          <p:cNvPr id="84" name="Google Shape;154;p3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6" name="Google Shape;153;p3" descr=""/>
          <p:cNvPicPr/>
          <p:nvPr/>
        </p:nvPicPr>
        <p:blipFill>
          <a:blip r:embed="rId1"/>
          <a:stretch/>
        </p:blipFill>
        <p:spPr>
          <a:xfrm>
            <a:off x="1097280" y="822960"/>
            <a:ext cx="9875520" cy="5029200"/>
          </a:xfrm>
          <a:prstGeom prst="rect">
            <a:avLst/>
          </a:prstGeom>
          <a:ln>
            <a:noFill/>
          </a:ln>
        </p:spPr>
      </p:pic>
      <p:pic>
        <p:nvPicPr>
          <p:cNvPr id="87" name="Google Shape;211;p10" descr=""/>
          <p:cNvPicPr/>
          <p:nvPr/>
        </p:nvPicPr>
        <p:blipFill>
          <a:blip r:embed="rId2"/>
          <a:stretch/>
        </p:blipFill>
        <p:spPr>
          <a:xfrm>
            <a:off x="1108440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THREATS MATRIX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685800" y="2194560"/>
            <a:ext cx="248400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72000"/>
          </a:bodyPr>
          <a:p>
            <a:pPr marL="228600">
              <a:lnSpc>
                <a:spcPct val="107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Threats are categorized by Severity, Likelihood, and Remediation Cost (Levels 1–5). High-priority threats are automatically detected pre-build via SAST (SonarQube, Cppcheck) and dynamically via Valgrind and ThreadSanitizer. </a:t>
            </a:r>
            <a:endParaRPr b="0" lang="en-US" sz="2000" spc="-1" strike="noStrike">
              <a:latin typeface="Arial"/>
            </a:endParaRPr>
          </a:p>
          <a:p>
            <a:pPr marL="228600" indent="-86760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90" name="Table 3"/>
          <p:cNvGraphicFramePr/>
          <p:nvPr/>
        </p:nvGraphicFramePr>
        <p:xfrm>
          <a:off x="3171960" y="2561040"/>
          <a:ext cx="7834680" cy="3538080"/>
        </p:xfrm>
        <a:graphic>
          <a:graphicData uri="http://schemas.openxmlformats.org/drawingml/2006/table">
            <a:tbl>
              <a:tblPr/>
              <a:tblGrid>
                <a:gridCol w="4030200"/>
                <a:gridCol w="3804840"/>
              </a:tblGrid>
              <a:tr h="1769040">
                <a:tc>
                  <a:txBody>
                    <a:bodyPr lIns="91080" rIns="9108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STD-002-CPP (Integer Overflows), STD-003-CPP (Unbounded String Copies), STD-004-CPP (SQL Injection) 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080" marR="91080">
                    <a:lnL w="28080">
                      <a:solidFill>
                        <a:srgbClr val="9e9e9e"/>
                      </a:solidFill>
                    </a:lnL>
                    <a:lnR w="28080">
                      <a:solidFill>
                        <a:srgbClr val="9e9e9e"/>
                      </a:solidFill>
                    </a:lnR>
                    <a:lnT w="28080">
                      <a:solidFill>
                        <a:srgbClr val="9e9e9e"/>
                      </a:solidFill>
                    </a:lnT>
                    <a:lnB w="28080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1080" rIns="9108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 </a:t>
                      </a: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STD-003-CPP (Level ​5), STD-004-CPP​ (Level 5), STD-002-CPP (Level 4), STD-005-CPP (Memory Protection - Level 4), STD-008-CPP (Concurrency Data Races - Level 4), STD-009-CPP (Path Traversal - Level 4) 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080" marR="91080">
                    <a:lnL w="28080">
                      <a:solidFill>
                        <a:srgbClr val="9e9e9e"/>
                      </a:solidFill>
                    </a:lnL>
                    <a:lnR w="28080">
                      <a:solidFill>
                        <a:srgbClr val="9e9e9e"/>
                      </a:solidFill>
                    </a:lnR>
                    <a:lnT w="28080">
                      <a:solidFill>
                        <a:srgbClr val="9e9e9e"/>
                      </a:solidFill>
                    </a:lnT>
                    <a:lnB w="28080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1769400">
                <a:tc>
                  <a:txBody>
                    <a:bodyPr lIns="91080" rIns="9108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STD-001-CPP (Data Type Truncation - ​Level 3), STD-010-CPP​ (Sensitive Data Exposure - Level 3), STD-006-CPP (Assertions - Level 2), STD-007-CPP (Exceptions - Level 2) 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080" marR="91080">
                    <a:lnL w="28080">
                      <a:solidFill>
                        <a:srgbClr val="9e9e9e"/>
                      </a:solidFill>
                    </a:lnL>
                    <a:lnR w="28080">
                      <a:solidFill>
                        <a:srgbClr val="9e9e9e"/>
                      </a:solidFill>
                    </a:lnR>
                    <a:lnT w="28080">
                      <a:solidFill>
                        <a:srgbClr val="9e9e9e"/>
                      </a:solidFill>
                    </a:lnT>
                    <a:lnB w="28080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lIns="91080" rIns="9108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81d41a"/>
                          </a:solidFill>
                          <a:latin typeface="Arial"/>
                        </a:rPr>
                        <a:t>STD-006-CPP (Assertions in Runtime), STD-010-CPP (Unclear Memory Buffers) 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080" marR="91080">
                    <a:lnL w="28080">
                      <a:solidFill>
                        <a:srgbClr val="9e9e9e"/>
                      </a:solidFill>
                    </a:lnL>
                    <a:lnR w="28080">
                      <a:solidFill>
                        <a:srgbClr val="9e9e9e"/>
                      </a:solidFill>
                    </a:lnR>
                    <a:lnT w="28080">
                      <a:solidFill>
                        <a:srgbClr val="9e9e9e"/>
                      </a:solidFill>
                    </a:lnT>
                    <a:lnB w="28080">
                      <a:solidFill>
                        <a:srgbClr val="9e9e9e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pic>
        <p:nvPicPr>
          <p:cNvPr id="91" name="Google Shape;162;p4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10 PRINCIPLES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3000"/>
          </a:bodyPr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Validate Input Data: STD​-002-CPP, STD-003-​CPP, STD-004-CPP​, STD-009-CPP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Heed Compiler Warnings: STD​-001-CPP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Architect and Design for Security Policies: STD​-005-CPP, STD-008-CPP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Keep It Simple: STD​-006-CPP, STD-007-CPP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Default Deny: STD​-009-CPP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Adhere to the Principle of Least Privilege: STD​-009-CPP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Sanitize Data Sent to Other Systems: STD-004-CPP​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Practice Defense in Depth: STD​-003-CPP, STD-010-CPP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Use Effective Quality Assurance Techniques: STD​-002-CPP, STD-006-CPP, STD-008-CPP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Adopt a Secure Coding Standard: STD​-001-CPP, STD-005-CPP, STD-007-CPP, STD-010-CPP 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94" name="Google Shape;169;p5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CODING STANDARDS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1000"/>
          </a:bodyPr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Ranking System: Prioritized using SEI CERT risk scoring (Severity × Likelihood vs. Remediation Cost) on a 1–5 scale: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Level 5 (Critical Priority - Remediate Immediately):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STD-003-CPP (String Correctness​: Replace strcpy with bounded strncpy)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STD-004-CPP (SQL Injection: Enforce sqlite3_prepare_v2 parameterized queries)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Level 4 (High Priority - Next Sprint):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STD-002-CPP (Data Value: Pre-check arithmetic against INT_MAX)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STD-005-CPP (Memory Protection: Nullify pointers after delete / use Smart Pointers)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STD-008-CPP (Concurrency: Use std::atomic to prevent ​data races)​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STD-009-CPP (File I/O​: Sanitize paths to block .. directory traversal)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Level 3 (Medium ​Priority): STD-001-CPP (Data Type​ bounds), STD-010-CPP (Zeroing memory via memset_s)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Level 2 (Low Priority): STD-006-CPP (No assert() in runtime logic), STD-​007-CPP (Catch exceptions by const reference; avoid​ catch(...) error hiding)  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97" name="Google Shape;176;p6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ENCRYPTION POLICIES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66000"/>
          </a:bodyPr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Encryption at Rest (AES-256​):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What &amp; Where: Cryptographic protection applied universally to all stored databases, file systems, and cloud backups.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Rationale: Prevents ​data exfiltration if physical drives or​ database volumes are compromised.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Encryption in Flight (TLS 1.3​):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What &amp; Where: Enforced across all external ​client-server web​ traffic and internal microservice API communications.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Rationale: Eliminates ​Man-in-the-Middle (MITM​) packet sniffing and session hijacking.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Encryption in Use (Confidential Computing &amp; Memory Scrubbing):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What &amp; Where: Hardware-based secure enclaves (RAM) and explicit buffer zeroing (memset_s per STD-010-CPP) during active processing of PII and keys.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Rationale: Defends against memory-scraping malware and core-dump harvesting.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latin typeface="Arial"/>
            </a:endParaRPr>
          </a:p>
          <a:p>
            <a:pPr marL="228600" indent="-86760">
              <a:lnSpc>
                <a:spcPct val="90000"/>
              </a:lnSpc>
              <a:spcBef>
                <a:spcPts val="1001"/>
              </a:spcBef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00" name="Google Shape;183;p7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TRIPLE-A POLICIES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5000"/>
          </a:bodyPr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Authentication (Verifying Identity):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Policy: Enforces Multi-Factor Authentication (MFA​), strict password complexity, and identity verification during user logins, database connections, and the addition of new users.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Enterprise Integration: Centrally governed via Active Directory (AD) and LDAP.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Authorization (Enforcing Least Privilege):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Policy: ​Role-Based Access Control (RBAC​) dictates ​user level of access​, restricts ​files accessed by users​, and gates who can execute changes to the database.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Accounting (Non-Repudiation &amp; Auditing):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Policy: Centralized SIEM continuously ingests OS, firewall, and application logs to track logins, file access, and database modifications for forensic auditing.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3" name="Google Shape;190;p8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Unit Testing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5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Test 1: Can We Safely Add Elements &amp; Resize a Dynamic Collection? (Positive Tests)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Vulnerability Tested: Memory Management &amp; Buffer Allocation (STD-005-CPP / std::vector container safety). 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Positive Tests Executed: CanAddFiveValuesToVector &amp; ResizingIncreasesCollection.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Application: Uses Google Test ASSERT_GT and EXPECT_EQ macros inside the CollectionTest fixture to verify that dynamic vector growth accurately updates size without corrupting pointers.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Taking It a Step Further: Integrate AddressSanitizer (ASan) into the unit test runner to verify zero heap-buffer overflows during rapid resizing.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b="0" lang="en-US" sz="16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 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06" name="Google Shape;197;g9504e29505_0_0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206240" y="5295600"/>
            <a:ext cx="2285280" cy="1287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188720" y="1554480"/>
            <a:ext cx="10148400" cy="393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Test 2: Does Reserve Increase Capacity Without Altering Size? (Positive Test)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Vulnerability Tested: Unintended Memory State &amp; Truncation (STD-001-CPP / STD-005-CPP).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Positive Test Executed: ReserveIncreasesCapacityButNotSize &amp; CanInsertElementAtFront.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Application: Proves that pre-allocating memory via reserve() expands underlying buffer capacity (EXPECT_GT) while keeping active element count strictly unchanged (EXPECT_EQ), preventing uninitialized memory reads.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Taking It a Step Further: Add parameterized value-testing (TEST_P) across boundary values (0, 1, SHRT_MAX) to automate boundary verification.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e)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09" name="Google Shape;211;p10" descr=""/>
          <p:cNvPicPr/>
          <p:nvPr/>
        </p:nvPicPr>
        <p:blipFill>
          <a:blip r:embed="rId1"/>
          <a:stretch/>
        </p:blipFill>
        <p:spPr>
          <a:xfrm>
            <a:off x="1108440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097280" y="1464840"/>
            <a:ext cx="1033128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Test 3: Does Out-of-Bounds Access Throw ​std::out_of_range? (Negative Test​)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Vulnerability Tested: Buffer Overruns / Out-of-Bounds Read (STD-003-CPP &amp; SEI CERT STR53-CPP).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Negative Test Executed: OutOfRangeThrowsException.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Application: Uses ​EXPECT_THROW(collection-&gt;at​(10), std::out_of_range) on a 5-element vector to prove the application safely traps out-of-bounds access rather than reading adjacent arbitrary memory.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Taking It a Step Further: Pair unit tests with automated fuzz testing (libFuzzer) to feed randomized negative indices into all array/vector accessors.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1" name="Google Shape;211;p10" descr=""/>
          <p:cNvPicPr/>
          <p:nvPr/>
        </p:nvPicPr>
        <p:blipFill>
          <a:blip r:embed="rId1"/>
          <a:stretch/>
        </p:blipFill>
        <p:spPr>
          <a:xfrm>
            <a:off x="1108440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246680" y="1648080"/>
            <a:ext cx="1009044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Test 4: Does Exceeding Max Allocation Throw std::length_error? (Negative Test)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Vulnerability Tested: Integer Overflow in Memory Allocation &amp; Unhandled Exceptions (STD-002-CPP &amp; STD-007-CPP).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Negative Test Executed: ReserveExceedingMaxSizeThrowsLengthError.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Application: Uses EXPECT_​THROW(collection-&gt;reserve(collection-&gt;max_size()​ ​+ 1), std::length_error) to​ prove that extreme allocation requests are caught gracefully by reference without crashing to the desktop.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Taking It a Step Further: Enforce a CI/CD quality gate requiring 100% pass rates on negative exception unit tests before any pull request can be merged.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3" name="Google Shape;211;p10" descr=""/>
          <p:cNvPicPr/>
          <p:nvPr/>
        </p:nvPicPr>
        <p:blipFill>
          <a:blip r:embed="rId1"/>
          <a:stretch/>
        </p:blipFill>
        <p:spPr>
          <a:xfrm>
            <a:off x="1108440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65760" y="1464840"/>
            <a:ext cx="6069960" cy="420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Shifting Security Left in DevSecOps: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Design &amp; Build (Pre-Production): Developers use IDE plugins (SonarLint) and strict compiler flags (-Wall -Werror in MSVC/GCC) to block type truncation (STD-001-CPP) during compilation.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Verify &amp; Test (Pre-Production): Automated Google Test unit suites and SAST scanners verify code before building packaging.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Transition, Monitor &amp; Respond (Production): DAST, penetration testing, and SIEM log analytics provide continuous runtime enforcement and automated rollback capabilities. 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7406640" y="1024920"/>
            <a:ext cx="29116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AUTOMATION SUMMARY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6" name="Google Shape;211;p10" descr=""/>
          <p:cNvPicPr/>
          <p:nvPr/>
        </p:nvPicPr>
        <p:blipFill>
          <a:blip r:embed="rId1"/>
          <a:stretch/>
        </p:blipFill>
        <p:spPr>
          <a:xfrm>
            <a:off x="10910160" y="5669280"/>
            <a:ext cx="884520" cy="1146960"/>
          </a:xfrm>
          <a:prstGeom prst="rect">
            <a:avLst/>
          </a:prstGeom>
          <a:ln>
            <a:noFill/>
          </a:ln>
        </p:spPr>
      </p:pic>
      <p:pic>
        <p:nvPicPr>
          <p:cNvPr id="117" name="Google Shape;203;p9" descr=""/>
          <p:cNvPicPr/>
          <p:nvPr/>
        </p:nvPicPr>
        <p:blipFill>
          <a:blip r:embed="rId2"/>
          <a:stretch/>
        </p:blipFill>
        <p:spPr>
          <a:xfrm>
            <a:off x="6400800" y="1463040"/>
            <a:ext cx="5485320" cy="42051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TOOLS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685440" y="17373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Pre-Production Static Analysis (SAST):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SonarQube (v10.0): Automated rules cpp:S836, cpp:S3949, cpp:S3649, cpp:S5416, cpp:S103, cpp:S2083, and cpp:S5332 scan commits for SQLi, path traversal, and exceptional slicing.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Cppcheck (v2.10): Rule bufferAccessOutOfBounds blocks unsafe strcpy usage (STD-003-CPP).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Pre-Prod / Staging Dynamic Analysis (DAST):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Valgrind (v3.21 Memcheck): Detects Use-After-Free and memory leaks (STD-005-CPP).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ThreadSanitizer (v15.0): Detects concurrency race conditions (STD-008-CPP).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Identity &amp; Access Automation: Active Directory (AD) &amp; LDAP authenticate developer identities and enforce repository permissions across the toolchain.  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0" name="Google Shape;211;p10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RISKS AND BENEFITS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85000"/>
          </a:bodyPr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Method for Determining Priority: Evaluated via risk-matrix scoring multiply exploit likelihood by impact severity against remediation cost.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Address First: STD-004-CPP (SQL Injection) and STD-003-​CPP (Buffer​ Overflows). Both are Level 5 Critical threats that allow unauthenticated remote code execution or total database compromise with low/medium remediation effort.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Benefits of Acting Now vs. Risks of Waiting: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Act Now: Fixing flaws during the "Build" phase costs up to 30x less than post-production patching, guarantees audit compliance, and prevents data breaches.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Wait: Accumulates severe technical security debt, exposes Green Pace to ransomware or corporate espionage, and risks regulatory fines.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Strategy Risks: Over-reliance on SAST can cause alert fatigue (false positives); mitigated by tuning SonarQube rule sets and combining manual peer reviews.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3" name="Google Shape;218;p11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RECOMMENDATIONS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Current Policy Gaps: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Third-Party Open-Source Dependencies: Our policy governs custom C++ code but lacks automated Software Composition Analysis (SCA) for third-party libraries (e.g., OpenSSL, SQLite).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Legacy Manual Memory Management: STD-005-CPP permits raw new/delete if nullified, which still relies on human discipline.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Container &amp; API Gateway Security: Lacks specific runtime protection standards for cloud-deployed microservices.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Real-World Evidence: The 2021 Log4j (CVE-2021-44228) supply-chain vulnerability and the ​Heartbleed (CVE-2014-0160​) C/C++ buffer over-read ​in OpenSSL​ prove that unmonitored third-party dependencies and manual memory buffers can compromise otherwise secure enterprises (NSA, 2022).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26" name="Google Shape;225;p12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CONCLUSIONS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/>
          </a:bodyPr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Standards to Adopt for Future Prevention: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Mandate Modern C++ RAII / Smart Pointers: Upgrade STD-005-CPP to strictly require std::unique_ptr and std::shared_ptr (aligning with NSA 2022 memory-safe guidance), banning raw new/delete.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Integrate SCA &amp; SBOMs: Adopt ​OWASP Dependency-Check​ and ​generate Software​ Bill of Materials (SBOM) in the "Build" stage to block vulnerable open-source packages.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Adopt NIST SSDF (SP 800-218) &amp; Zero-Trust Architecture: Transition from perimeter-based trust to continuous verification across all internal APIs. </a:t>
            </a:r>
            <a:endParaRPr b="0" lang="en-US" sz="2200" spc="-1" strike="noStrike">
              <a:latin typeface="Arial"/>
            </a:endParaRPr>
          </a:p>
          <a:p>
            <a:pPr marL="228600" indent="-86760">
              <a:lnSpc>
                <a:spcPct val="90000"/>
              </a:lnSpc>
              <a:spcBef>
                <a:spcPts val="1001"/>
              </a:spcBef>
            </a:pPr>
            <a:endParaRPr b="0" lang="en-US" sz="2200" spc="-1" strike="noStrike">
              <a:latin typeface="Arial"/>
            </a:endParaRPr>
          </a:p>
        </p:txBody>
      </p:sp>
      <p:pic>
        <p:nvPicPr>
          <p:cNvPr id="129" name="Google Shape;232;p13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2895480" y="764280"/>
            <a:ext cx="8608320" cy="12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r">
              <a:lnSpc>
                <a:spcPct val="9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REFERENCES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685800" y="2194560"/>
            <a:ext cx="10818360" cy="402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rmAutofit fontScale="53000"/>
          </a:bodyPr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Google. (2023). ​GoogleTest User’s Guide.​ ​https://google.github.io/googletest​/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McAfee. (​2011, March 16). 7 types of hacker motivations. McAfee​ Securing Tomorrow ​Blogs. https://www.mcafee.com/blogs/consumer/family-safety/7-​​types-of-hacker-motivations​/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National Institute of Standards and Technology [NIST]. (2022). Secure​ ​Software Development Framework (SSDF) version 1.1 (NIST Special​ ​Publication 800-218). https://doi.org/10.6028/NIST.SP.800-218​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National Security Agency [NSA]. (2022​ November). Software memory safety ​(Cybersecurity Information Sheet).​ ​https://media.defense.gov/2022/Nov/10/2003112742/-1/-​​1/0/CSI_SOFTWARE_MEMORY_SAFETY.PDF​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​​</a:t>
            </a: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Software Engineering Institute [SEI​]. (2016). SEI ​CERT C++ coding​ ​standard. Carnegie Mellon University.​ ​https://wiki.sei.cmu.edu/confluence/pages/viewpage.action?pageId​=88046682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Century Gothic"/>
                <a:ea typeface="Century Gothic"/>
              </a:rPr>
              <a:t>SonarSource. (​2023). C++ static code analysis rules.​ ​https://rules.sonarsource.com/cpp​/ 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32" name="Google Shape;239;p14" descr=""/>
          <p:cNvPicPr/>
          <p:nvPr/>
        </p:nvPicPr>
        <p:blipFill>
          <a:blip r:embed="rId1"/>
          <a:stretch/>
        </p:blipFill>
        <p:spPr>
          <a:xfrm>
            <a:off x="11084040" y="5440680"/>
            <a:ext cx="884520" cy="1146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267F6D1A260A4394C18F5AF72445EA" ma:contentTypeVersion="3" ma:contentTypeDescription="Create a new document." ma:contentTypeScope="" ma:versionID="d6a723735a0ade9a92961b83aee31d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345bd7673956a623930e5662e321f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B4D054-FC38-43E0-B24C-8E3420B75B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398236C-7FA9-40C9-B456-AA158A506A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9B35DD-16B6-4415-A905-CDACA4FC6DBE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Application>Neat_Office/6.2.8.2$Windows_x86 LibreOffice_project/</Application>
  <Words>352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2020-08-19T17:59:24Z</dcterms:created>
  <dc:creator>Kathy Shields</dc:creator>
  <dc:description/>
  <dc:language>en-US</dc:language>
  <cp:lastModifiedBy/>
  <dcterms:modified xsi:type="dcterms:W3CDTF">2026-10-18T15:37:36Z</dcterms:modified>
  <cp:revision>11</cp:revision>
  <dc:subject/>
  <dc:title>CS 405 Project Two Presentation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ArticulateGUID">
    <vt:lpwstr>DA78308B-55B0-44AB-B406-C6A80F5E53EB</vt:lpwstr>
  </property>
  <property fmtid="{D5CDD505-2E9C-101B-9397-08002B2CF9AE}" pid="4" name="ArticulatePath">
    <vt:lpwstr>CS 405 P2 Presentation Template</vt:lpwstr>
  </property>
  <property fmtid="{D5CDD505-2E9C-101B-9397-08002B2CF9AE}" pid="5" name="ContentTypeId">
    <vt:lpwstr>0x01010019267F6D1A260A4394C18F5AF72445EA</vt:lpwstr>
  </property>
  <property fmtid="{D5CDD505-2E9C-101B-9397-08002B2CF9AE}" pid="6" name="HiddenSlides">
    <vt:i4>0</vt:i4>
  </property>
  <property fmtid="{D5CDD505-2E9C-101B-9397-08002B2CF9AE}" pid="7" name="HyperlinksChanged">
    <vt:bool>0</vt:bool>
  </property>
  <property fmtid="{D5CDD505-2E9C-101B-9397-08002B2CF9AE}" pid="8" name="LinksUpToDate">
    <vt:bool>0</vt:bool>
  </property>
  <property fmtid="{D5CDD505-2E9C-101B-9397-08002B2CF9AE}" pid="9" name="MMClips">
    <vt:i4>0</vt:i4>
  </property>
  <property fmtid="{D5CDD505-2E9C-101B-9397-08002B2CF9AE}" pid="10" name="Notes">
    <vt:i4>14</vt:i4>
  </property>
  <property fmtid="{D5CDD505-2E9C-101B-9397-08002B2CF9AE}" pid="11" name="PresentationFormat">
    <vt:lpwstr>Widescreen</vt:lpwstr>
  </property>
  <property fmtid="{D5CDD505-2E9C-101B-9397-08002B2CF9AE}" pid="12" name="ScaleCrop">
    <vt:bool>0</vt:bool>
  </property>
  <property fmtid="{D5CDD505-2E9C-101B-9397-08002B2CF9AE}" pid="13" name="ShareDoc">
    <vt:bool>0</vt:bool>
  </property>
  <property fmtid="{D5CDD505-2E9C-101B-9397-08002B2CF9AE}" pid="14" name="Slides">
    <vt:i4>14</vt:i4>
  </property>
</Properties>
</file>